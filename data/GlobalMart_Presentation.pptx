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6572B-4C4D-4F55-822A-7A3CF4C724B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683D9E-F7F2-4ED3-942F-D4AFE6DA1002}">
      <dgm:prSet/>
      <dgm:spPr/>
      <dgm:t>
        <a:bodyPr/>
        <a:lstStyle/>
        <a:p>
          <a:r>
            <a:rPr lang="en-US"/>
            <a:t>• Improve delivery performance</a:t>
          </a:r>
        </a:p>
      </dgm:t>
    </dgm:pt>
    <dgm:pt modelId="{59D892C0-4E37-472A-8E63-36A36EFE55A8}" type="parTrans" cxnId="{B6A042FF-D559-4C6C-8B1B-6843B6810F16}">
      <dgm:prSet/>
      <dgm:spPr/>
      <dgm:t>
        <a:bodyPr/>
        <a:lstStyle/>
        <a:p>
          <a:endParaRPr lang="en-US"/>
        </a:p>
      </dgm:t>
    </dgm:pt>
    <dgm:pt modelId="{B866A714-AE1C-4D10-AC07-9B8F065FC9A9}" type="sibTrans" cxnId="{B6A042FF-D559-4C6C-8B1B-6843B6810F16}">
      <dgm:prSet/>
      <dgm:spPr/>
      <dgm:t>
        <a:bodyPr/>
        <a:lstStyle/>
        <a:p>
          <a:endParaRPr lang="en-US"/>
        </a:p>
      </dgm:t>
    </dgm:pt>
    <dgm:pt modelId="{21679514-D7C7-4D46-8AC1-88521AD8C073}">
      <dgm:prSet/>
      <dgm:spPr/>
      <dgm:t>
        <a:bodyPr/>
        <a:lstStyle/>
        <a:p>
          <a:r>
            <a:rPr lang="en-US"/>
            <a:t>• Optimize inventory</a:t>
          </a:r>
        </a:p>
      </dgm:t>
    </dgm:pt>
    <dgm:pt modelId="{4D2BF3EB-4DC3-42F4-88F1-CD9B6722E3EB}" type="parTrans" cxnId="{F1BB4E56-DC6C-4F91-88E9-71A2E449AD67}">
      <dgm:prSet/>
      <dgm:spPr/>
      <dgm:t>
        <a:bodyPr/>
        <a:lstStyle/>
        <a:p>
          <a:endParaRPr lang="en-US"/>
        </a:p>
      </dgm:t>
    </dgm:pt>
    <dgm:pt modelId="{1C7C93D1-18C7-4E2A-8A0C-D6C3A9FB147F}" type="sibTrans" cxnId="{F1BB4E56-DC6C-4F91-88E9-71A2E449AD67}">
      <dgm:prSet/>
      <dgm:spPr/>
      <dgm:t>
        <a:bodyPr/>
        <a:lstStyle/>
        <a:p>
          <a:endParaRPr lang="en-US"/>
        </a:p>
      </dgm:t>
    </dgm:pt>
    <dgm:pt modelId="{6973B53F-8968-4C82-84FC-AC3C8B9C9B84}">
      <dgm:prSet/>
      <dgm:spPr/>
      <dgm:t>
        <a:bodyPr/>
        <a:lstStyle/>
        <a:p>
          <a:r>
            <a:rPr lang="en-US"/>
            <a:t>• Reduce damaged goods</a:t>
          </a:r>
        </a:p>
      </dgm:t>
    </dgm:pt>
    <dgm:pt modelId="{D360806B-4ADA-4178-8B95-CCB3395979A9}" type="parTrans" cxnId="{1DF62738-C2EC-4919-86F4-10238D555449}">
      <dgm:prSet/>
      <dgm:spPr/>
      <dgm:t>
        <a:bodyPr/>
        <a:lstStyle/>
        <a:p>
          <a:endParaRPr lang="en-US"/>
        </a:p>
      </dgm:t>
    </dgm:pt>
    <dgm:pt modelId="{040DA01D-19F1-4BB3-93C6-96207428DD7E}" type="sibTrans" cxnId="{1DF62738-C2EC-4919-86F4-10238D555449}">
      <dgm:prSet/>
      <dgm:spPr/>
      <dgm:t>
        <a:bodyPr/>
        <a:lstStyle/>
        <a:p>
          <a:endParaRPr lang="en-US"/>
        </a:p>
      </dgm:t>
    </dgm:pt>
    <dgm:pt modelId="{A2FAC990-0D26-4D57-9877-FBC99DDB8D2D}">
      <dgm:prSet/>
      <dgm:spPr/>
      <dgm:t>
        <a:bodyPr/>
        <a:lstStyle/>
        <a:p>
          <a:r>
            <a:rPr lang="en-US"/>
            <a:t>• Evaluate supplier performance</a:t>
          </a:r>
        </a:p>
      </dgm:t>
    </dgm:pt>
    <dgm:pt modelId="{F62A3CED-917C-4C10-A581-DBBD33DD4C86}" type="parTrans" cxnId="{FBD3A216-3821-401E-9696-5A1A8B3C864A}">
      <dgm:prSet/>
      <dgm:spPr/>
      <dgm:t>
        <a:bodyPr/>
        <a:lstStyle/>
        <a:p>
          <a:endParaRPr lang="en-US"/>
        </a:p>
      </dgm:t>
    </dgm:pt>
    <dgm:pt modelId="{41742ECF-28EE-43E2-B6D7-5F0026EF6999}" type="sibTrans" cxnId="{FBD3A216-3821-401E-9696-5A1A8B3C864A}">
      <dgm:prSet/>
      <dgm:spPr/>
      <dgm:t>
        <a:bodyPr/>
        <a:lstStyle/>
        <a:p>
          <a:endParaRPr lang="en-US"/>
        </a:p>
      </dgm:t>
    </dgm:pt>
    <dgm:pt modelId="{61EF8230-E5A3-4BE9-8A2E-8F8C6FCBE1CB}">
      <dgm:prSet/>
      <dgm:spPr/>
      <dgm:t>
        <a:bodyPr/>
        <a:lstStyle/>
        <a:p>
          <a:r>
            <a:rPr lang="en-US"/>
            <a:t>• Improve profitability</a:t>
          </a:r>
        </a:p>
      </dgm:t>
    </dgm:pt>
    <dgm:pt modelId="{F0617B98-017F-4D30-8C9F-1C3FCD151B96}" type="parTrans" cxnId="{F835BA0D-84E4-43DB-846A-D38EC8FA8C2F}">
      <dgm:prSet/>
      <dgm:spPr/>
      <dgm:t>
        <a:bodyPr/>
        <a:lstStyle/>
        <a:p>
          <a:endParaRPr lang="en-US"/>
        </a:p>
      </dgm:t>
    </dgm:pt>
    <dgm:pt modelId="{7FBBF32F-1B4F-4648-B37D-988A22D61268}" type="sibTrans" cxnId="{F835BA0D-84E4-43DB-846A-D38EC8FA8C2F}">
      <dgm:prSet/>
      <dgm:spPr/>
      <dgm:t>
        <a:bodyPr/>
        <a:lstStyle/>
        <a:p>
          <a:endParaRPr lang="en-US"/>
        </a:p>
      </dgm:t>
    </dgm:pt>
    <dgm:pt modelId="{037DE7D1-1886-4A23-A316-5754997A97AD}" type="pres">
      <dgm:prSet presAssocID="{A826572B-4C4D-4F55-822A-7A3CF4C724B0}" presName="linear" presStyleCnt="0">
        <dgm:presLayoutVars>
          <dgm:animLvl val="lvl"/>
          <dgm:resizeHandles val="exact"/>
        </dgm:presLayoutVars>
      </dgm:prSet>
      <dgm:spPr/>
    </dgm:pt>
    <dgm:pt modelId="{79553A8F-5D8C-4C69-AEBD-13C881106C04}" type="pres">
      <dgm:prSet presAssocID="{83683D9E-F7F2-4ED3-942F-D4AFE6DA100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9639468-5F84-4EEA-B3EA-9C56F602E304}" type="pres">
      <dgm:prSet presAssocID="{B866A714-AE1C-4D10-AC07-9B8F065FC9A9}" presName="spacer" presStyleCnt="0"/>
      <dgm:spPr/>
    </dgm:pt>
    <dgm:pt modelId="{5BF40844-6959-4B3C-BDBA-A4872772A292}" type="pres">
      <dgm:prSet presAssocID="{21679514-D7C7-4D46-8AC1-88521AD8C07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E58696C-EBE1-44CA-9071-734B8C2D337D}" type="pres">
      <dgm:prSet presAssocID="{1C7C93D1-18C7-4E2A-8A0C-D6C3A9FB147F}" presName="spacer" presStyleCnt="0"/>
      <dgm:spPr/>
    </dgm:pt>
    <dgm:pt modelId="{BC8C71FA-A575-4276-980C-6BFFB2B0625F}" type="pres">
      <dgm:prSet presAssocID="{6973B53F-8968-4C82-84FC-AC3C8B9C9B8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3C90023-3489-4F8A-BEEA-DF1D53F1CFE5}" type="pres">
      <dgm:prSet presAssocID="{040DA01D-19F1-4BB3-93C6-96207428DD7E}" presName="spacer" presStyleCnt="0"/>
      <dgm:spPr/>
    </dgm:pt>
    <dgm:pt modelId="{7297CDD1-3851-4705-82AB-CB848B3B4683}" type="pres">
      <dgm:prSet presAssocID="{A2FAC990-0D26-4D57-9877-FBC99DDB8D2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9867FC-2462-4D78-B405-3A483053A7C2}" type="pres">
      <dgm:prSet presAssocID="{41742ECF-28EE-43E2-B6D7-5F0026EF6999}" presName="spacer" presStyleCnt="0"/>
      <dgm:spPr/>
    </dgm:pt>
    <dgm:pt modelId="{1668DE65-2742-4CE4-8E09-DD81F04F196D}" type="pres">
      <dgm:prSet presAssocID="{61EF8230-E5A3-4BE9-8A2E-8F8C6FCBE1C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835BA0D-84E4-43DB-846A-D38EC8FA8C2F}" srcId="{A826572B-4C4D-4F55-822A-7A3CF4C724B0}" destId="{61EF8230-E5A3-4BE9-8A2E-8F8C6FCBE1CB}" srcOrd="4" destOrd="0" parTransId="{F0617B98-017F-4D30-8C9F-1C3FCD151B96}" sibTransId="{7FBBF32F-1B4F-4648-B37D-988A22D61268}"/>
    <dgm:cxn modelId="{4ECA3A0E-7B19-42EF-9B25-650FC0757E71}" type="presOf" srcId="{A826572B-4C4D-4F55-822A-7A3CF4C724B0}" destId="{037DE7D1-1886-4A23-A316-5754997A97AD}" srcOrd="0" destOrd="0" presId="urn:microsoft.com/office/officeart/2005/8/layout/vList2"/>
    <dgm:cxn modelId="{FBD3A216-3821-401E-9696-5A1A8B3C864A}" srcId="{A826572B-4C4D-4F55-822A-7A3CF4C724B0}" destId="{A2FAC990-0D26-4D57-9877-FBC99DDB8D2D}" srcOrd="3" destOrd="0" parTransId="{F62A3CED-917C-4C10-A581-DBBD33DD4C86}" sibTransId="{41742ECF-28EE-43E2-B6D7-5F0026EF6999}"/>
    <dgm:cxn modelId="{1DF62738-C2EC-4919-86F4-10238D555449}" srcId="{A826572B-4C4D-4F55-822A-7A3CF4C724B0}" destId="{6973B53F-8968-4C82-84FC-AC3C8B9C9B84}" srcOrd="2" destOrd="0" parTransId="{D360806B-4ADA-4178-8B95-CCB3395979A9}" sibTransId="{040DA01D-19F1-4BB3-93C6-96207428DD7E}"/>
    <dgm:cxn modelId="{19DE4867-246A-45BB-8F40-F1F3764C42D2}" type="presOf" srcId="{61EF8230-E5A3-4BE9-8A2E-8F8C6FCBE1CB}" destId="{1668DE65-2742-4CE4-8E09-DD81F04F196D}" srcOrd="0" destOrd="0" presId="urn:microsoft.com/office/officeart/2005/8/layout/vList2"/>
    <dgm:cxn modelId="{93896154-3DBA-4942-9A4B-CB4E32471C7F}" type="presOf" srcId="{83683D9E-F7F2-4ED3-942F-D4AFE6DA1002}" destId="{79553A8F-5D8C-4C69-AEBD-13C881106C04}" srcOrd="0" destOrd="0" presId="urn:microsoft.com/office/officeart/2005/8/layout/vList2"/>
    <dgm:cxn modelId="{F1BB4E56-DC6C-4F91-88E9-71A2E449AD67}" srcId="{A826572B-4C4D-4F55-822A-7A3CF4C724B0}" destId="{21679514-D7C7-4D46-8AC1-88521AD8C073}" srcOrd="1" destOrd="0" parTransId="{4D2BF3EB-4DC3-42F4-88F1-CD9B6722E3EB}" sibTransId="{1C7C93D1-18C7-4E2A-8A0C-D6C3A9FB147F}"/>
    <dgm:cxn modelId="{BAF90281-D4EF-49F9-9AFC-D3ECDD4F2097}" type="presOf" srcId="{A2FAC990-0D26-4D57-9877-FBC99DDB8D2D}" destId="{7297CDD1-3851-4705-82AB-CB848B3B4683}" srcOrd="0" destOrd="0" presId="urn:microsoft.com/office/officeart/2005/8/layout/vList2"/>
    <dgm:cxn modelId="{AB6A74DA-4BB8-44D6-9C76-4AF8A9F967DA}" type="presOf" srcId="{6973B53F-8968-4C82-84FC-AC3C8B9C9B84}" destId="{BC8C71FA-A575-4276-980C-6BFFB2B0625F}" srcOrd="0" destOrd="0" presId="urn:microsoft.com/office/officeart/2005/8/layout/vList2"/>
    <dgm:cxn modelId="{810F90EF-2DCA-4749-B433-8B3C710377FC}" type="presOf" srcId="{21679514-D7C7-4D46-8AC1-88521AD8C073}" destId="{5BF40844-6959-4B3C-BDBA-A4872772A292}" srcOrd="0" destOrd="0" presId="urn:microsoft.com/office/officeart/2005/8/layout/vList2"/>
    <dgm:cxn modelId="{B6A042FF-D559-4C6C-8B1B-6843B6810F16}" srcId="{A826572B-4C4D-4F55-822A-7A3CF4C724B0}" destId="{83683D9E-F7F2-4ED3-942F-D4AFE6DA1002}" srcOrd="0" destOrd="0" parTransId="{59D892C0-4E37-472A-8E63-36A36EFE55A8}" sibTransId="{B866A714-AE1C-4D10-AC07-9B8F065FC9A9}"/>
    <dgm:cxn modelId="{8831C4C8-5268-47B9-B9C1-5FB6094A8CF8}" type="presParOf" srcId="{037DE7D1-1886-4A23-A316-5754997A97AD}" destId="{79553A8F-5D8C-4C69-AEBD-13C881106C04}" srcOrd="0" destOrd="0" presId="urn:microsoft.com/office/officeart/2005/8/layout/vList2"/>
    <dgm:cxn modelId="{D36C83F4-5CE9-4054-AABC-06F6F8A85CB0}" type="presParOf" srcId="{037DE7D1-1886-4A23-A316-5754997A97AD}" destId="{49639468-5F84-4EEA-B3EA-9C56F602E304}" srcOrd="1" destOrd="0" presId="urn:microsoft.com/office/officeart/2005/8/layout/vList2"/>
    <dgm:cxn modelId="{87A4B866-FDB1-4114-82E1-5C142397F86C}" type="presParOf" srcId="{037DE7D1-1886-4A23-A316-5754997A97AD}" destId="{5BF40844-6959-4B3C-BDBA-A4872772A292}" srcOrd="2" destOrd="0" presId="urn:microsoft.com/office/officeart/2005/8/layout/vList2"/>
    <dgm:cxn modelId="{D98DC388-8F11-4B75-B1ED-BEED4B625B89}" type="presParOf" srcId="{037DE7D1-1886-4A23-A316-5754997A97AD}" destId="{2E58696C-EBE1-44CA-9071-734B8C2D337D}" srcOrd="3" destOrd="0" presId="urn:microsoft.com/office/officeart/2005/8/layout/vList2"/>
    <dgm:cxn modelId="{311AF1AC-093E-4D9C-849A-3CCF70AE4958}" type="presParOf" srcId="{037DE7D1-1886-4A23-A316-5754997A97AD}" destId="{BC8C71FA-A575-4276-980C-6BFFB2B0625F}" srcOrd="4" destOrd="0" presId="urn:microsoft.com/office/officeart/2005/8/layout/vList2"/>
    <dgm:cxn modelId="{4C8BF412-896F-440D-B6A7-7A6F127DBD3E}" type="presParOf" srcId="{037DE7D1-1886-4A23-A316-5754997A97AD}" destId="{F3C90023-3489-4F8A-BEEA-DF1D53F1CFE5}" srcOrd="5" destOrd="0" presId="urn:microsoft.com/office/officeart/2005/8/layout/vList2"/>
    <dgm:cxn modelId="{4E580599-BE9A-4BA8-94C0-4EE9F25EF6D1}" type="presParOf" srcId="{037DE7D1-1886-4A23-A316-5754997A97AD}" destId="{7297CDD1-3851-4705-82AB-CB848B3B4683}" srcOrd="6" destOrd="0" presId="urn:microsoft.com/office/officeart/2005/8/layout/vList2"/>
    <dgm:cxn modelId="{7236982D-4609-4A96-8B73-F85B93969EF1}" type="presParOf" srcId="{037DE7D1-1886-4A23-A316-5754997A97AD}" destId="{F19867FC-2462-4D78-B405-3A483053A7C2}" srcOrd="7" destOrd="0" presId="urn:microsoft.com/office/officeart/2005/8/layout/vList2"/>
    <dgm:cxn modelId="{C7263992-AF91-4517-8F49-877D69649F8A}" type="presParOf" srcId="{037DE7D1-1886-4A23-A316-5754997A97AD}" destId="{1668DE65-2742-4CE4-8E09-DD81F04F196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0E4C10-1AD2-4D06-A449-91A3DA1EACC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E5BC90-CF7B-4530-90C0-040F15931D4D}">
      <dgm:prSet/>
      <dgm:spPr/>
      <dgm:t>
        <a:bodyPr/>
        <a:lstStyle/>
        <a:p>
          <a:r>
            <a:rPr lang="en-US"/>
            <a:t>1. Excel &amp; Power Query cleaning</a:t>
          </a:r>
        </a:p>
      </dgm:t>
    </dgm:pt>
    <dgm:pt modelId="{A206E7D3-6BE7-4686-BEC9-2342A19E04A7}" type="parTrans" cxnId="{64EBA29E-2437-48DB-B223-EB4432B8C7C1}">
      <dgm:prSet/>
      <dgm:spPr/>
      <dgm:t>
        <a:bodyPr/>
        <a:lstStyle/>
        <a:p>
          <a:endParaRPr lang="en-US"/>
        </a:p>
      </dgm:t>
    </dgm:pt>
    <dgm:pt modelId="{C0814E7B-2922-4B92-BC47-98C64105D893}" type="sibTrans" cxnId="{64EBA29E-2437-48DB-B223-EB4432B8C7C1}">
      <dgm:prSet/>
      <dgm:spPr/>
      <dgm:t>
        <a:bodyPr/>
        <a:lstStyle/>
        <a:p>
          <a:endParaRPr lang="en-US"/>
        </a:p>
      </dgm:t>
    </dgm:pt>
    <dgm:pt modelId="{D1953E0C-36FA-432A-9BED-D5B4BCE614F9}">
      <dgm:prSet/>
      <dgm:spPr/>
      <dgm:t>
        <a:bodyPr/>
        <a:lstStyle/>
        <a:p>
          <a:r>
            <a:rPr lang="en-US"/>
            <a:t>2. Power BI data model</a:t>
          </a:r>
        </a:p>
      </dgm:t>
    </dgm:pt>
    <dgm:pt modelId="{510FFB6A-153F-4DE7-AE75-DE5F53695DE3}" type="parTrans" cxnId="{A5A5C946-3AE4-4D77-A639-1BF36EE2EFC9}">
      <dgm:prSet/>
      <dgm:spPr/>
      <dgm:t>
        <a:bodyPr/>
        <a:lstStyle/>
        <a:p>
          <a:endParaRPr lang="en-US"/>
        </a:p>
      </dgm:t>
    </dgm:pt>
    <dgm:pt modelId="{2B2C6B1F-7CFA-4732-8D44-202F95E9F0AC}" type="sibTrans" cxnId="{A5A5C946-3AE4-4D77-A639-1BF36EE2EFC9}">
      <dgm:prSet/>
      <dgm:spPr/>
      <dgm:t>
        <a:bodyPr/>
        <a:lstStyle/>
        <a:p>
          <a:endParaRPr lang="en-US"/>
        </a:p>
      </dgm:t>
    </dgm:pt>
    <dgm:pt modelId="{5BB2D3C1-7F2E-4EE5-B0F5-EA5818526C12}">
      <dgm:prSet/>
      <dgm:spPr/>
      <dgm:t>
        <a:bodyPr/>
        <a:lstStyle/>
        <a:p>
          <a:r>
            <a:rPr lang="en-US"/>
            <a:t>3. DAX measures &amp; KPIs</a:t>
          </a:r>
        </a:p>
      </dgm:t>
    </dgm:pt>
    <dgm:pt modelId="{3EF30B6A-8196-4AF9-846C-29A9997D5545}" type="parTrans" cxnId="{41C30D00-E59A-4925-821F-1ED6204243DE}">
      <dgm:prSet/>
      <dgm:spPr/>
      <dgm:t>
        <a:bodyPr/>
        <a:lstStyle/>
        <a:p>
          <a:endParaRPr lang="en-US"/>
        </a:p>
      </dgm:t>
    </dgm:pt>
    <dgm:pt modelId="{675B3613-D933-41AF-AEA3-28F6B78C6B8B}" type="sibTrans" cxnId="{41C30D00-E59A-4925-821F-1ED6204243DE}">
      <dgm:prSet/>
      <dgm:spPr/>
      <dgm:t>
        <a:bodyPr/>
        <a:lstStyle/>
        <a:p>
          <a:endParaRPr lang="en-US"/>
        </a:p>
      </dgm:t>
    </dgm:pt>
    <dgm:pt modelId="{30634845-A82D-4EA4-ADF1-B3A6CEEEC41B}">
      <dgm:prSet/>
      <dgm:spPr/>
      <dgm:t>
        <a:bodyPr/>
        <a:lstStyle/>
        <a:p>
          <a:r>
            <a:rPr lang="en-US"/>
            <a:t>4. Interactive dashboards</a:t>
          </a:r>
        </a:p>
      </dgm:t>
    </dgm:pt>
    <dgm:pt modelId="{CC3CCB06-9174-48B7-B2DA-40190F77318B}" type="parTrans" cxnId="{637156F4-5E5E-42B6-A314-9CDF9795D6F8}">
      <dgm:prSet/>
      <dgm:spPr/>
      <dgm:t>
        <a:bodyPr/>
        <a:lstStyle/>
        <a:p>
          <a:endParaRPr lang="en-US"/>
        </a:p>
      </dgm:t>
    </dgm:pt>
    <dgm:pt modelId="{4B0B6545-C515-4338-8E84-BDB02F5544B8}" type="sibTrans" cxnId="{637156F4-5E5E-42B6-A314-9CDF9795D6F8}">
      <dgm:prSet/>
      <dgm:spPr/>
      <dgm:t>
        <a:bodyPr/>
        <a:lstStyle/>
        <a:p>
          <a:endParaRPr lang="en-US"/>
        </a:p>
      </dgm:t>
    </dgm:pt>
    <dgm:pt modelId="{04AB3F4A-9559-4D99-890D-B9D26AAB2A27}">
      <dgm:prSet/>
      <dgm:spPr/>
      <dgm:t>
        <a:bodyPr/>
        <a:lstStyle/>
        <a:p>
          <a:r>
            <a:rPr lang="en-US"/>
            <a:t>5. Business insights</a:t>
          </a:r>
        </a:p>
      </dgm:t>
    </dgm:pt>
    <dgm:pt modelId="{C0B31EB0-27E2-4C71-976D-6FCB0BF8E670}" type="parTrans" cxnId="{1CA0467C-38AF-468A-A051-A08D9418F374}">
      <dgm:prSet/>
      <dgm:spPr/>
      <dgm:t>
        <a:bodyPr/>
        <a:lstStyle/>
        <a:p>
          <a:endParaRPr lang="en-US"/>
        </a:p>
      </dgm:t>
    </dgm:pt>
    <dgm:pt modelId="{398BB575-9496-470C-8ABA-ACFE4290C2B7}" type="sibTrans" cxnId="{1CA0467C-38AF-468A-A051-A08D9418F374}">
      <dgm:prSet/>
      <dgm:spPr/>
      <dgm:t>
        <a:bodyPr/>
        <a:lstStyle/>
        <a:p>
          <a:endParaRPr lang="en-US"/>
        </a:p>
      </dgm:t>
    </dgm:pt>
    <dgm:pt modelId="{CBBC4593-258C-4E92-9C20-DF9DDD4B7611}" type="pres">
      <dgm:prSet presAssocID="{740E4C10-1AD2-4D06-A449-91A3DA1EACCB}" presName="linear" presStyleCnt="0">
        <dgm:presLayoutVars>
          <dgm:animLvl val="lvl"/>
          <dgm:resizeHandles val="exact"/>
        </dgm:presLayoutVars>
      </dgm:prSet>
      <dgm:spPr/>
    </dgm:pt>
    <dgm:pt modelId="{2FD87A12-76A9-4F38-88C2-F5FD7CA0646A}" type="pres">
      <dgm:prSet presAssocID="{F9E5BC90-CF7B-4530-90C0-040F15931D4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4E9FA13-498A-440B-9D17-E119A5B31AA6}" type="pres">
      <dgm:prSet presAssocID="{C0814E7B-2922-4B92-BC47-98C64105D893}" presName="spacer" presStyleCnt="0"/>
      <dgm:spPr/>
    </dgm:pt>
    <dgm:pt modelId="{03437B7E-11FD-4EC2-BCF6-0C31A48E2CB3}" type="pres">
      <dgm:prSet presAssocID="{D1953E0C-36FA-432A-9BED-D5B4BCE614F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189E47-3EB5-420D-8A90-6B2BA24EAF3F}" type="pres">
      <dgm:prSet presAssocID="{2B2C6B1F-7CFA-4732-8D44-202F95E9F0AC}" presName="spacer" presStyleCnt="0"/>
      <dgm:spPr/>
    </dgm:pt>
    <dgm:pt modelId="{1AE9C4CB-4CE6-47E5-8CEF-73460F0371DB}" type="pres">
      <dgm:prSet presAssocID="{5BB2D3C1-7F2E-4EE5-B0F5-EA5818526C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65F35E-2529-4346-9442-CACF5DADA93A}" type="pres">
      <dgm:prSet presAssocID="{675B3613-D933-41AF-AEA3-28F6B78C6B8B}" presName="spacer" presStyleCnt="0"/>
      <dgm:spPr/>
    </dgm:pt>
    <dgm:pt modelId="{E1A16E8F-BAF8-4E8D-A8D2-B604B4D764F7}" type="pres">
      <dgm:prSet presAssocID="{30634845-A82D-4EA4-ADF1-B3A6CEEEC41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C4163F8-8716-4B88-AAC4-5D16C1DB5116}" type="pres">
      <dgm:prSet presAssocID="{4B0B6545-C515-4338-8E84-BDB02F5544B8}" presName="spacer" presStyleCnt="0"/>
      <dgm:spPr/>
    </dgm:pt>
    <dgm:pt modelId="{EB218E4B-BC72-4EED-992E-118499B2DF92}" type="pres">
      <dgm:prSet presAssocID="{04AB3F4A-9559-4D99-890D-B9D26AAB2A2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1C30D00-E59A-4925-821F-1ED6204243DE}" srcId="{740E4C10-1AD2-4D06-A449-91A3DA1EACCB}" destId="{5BB2D3C1-7F2E-4EE5-B0F5-EA5818526C12}" srcOrd="2" destOrd="0" parTransId="{3EF30B6A-8196-4AF9-846C-29A9997D5545}" sibTransId="{675B3613-D933-41AF-AEA3-28F6B78C6B8B}"/>
    <dgm:cxn modelId="{B29CD700-1440-45DE-A768-1DFD11B93000}" type="presOf" srcId="{740E4C10-1AD2-4D06-A449-91A3DA1EACCB}" destId="{CBBC4593-258C-4E92-9C20-DF9DDD4B7611}" srcOrd="0" destOrd="0" presId="urn:microsoft.com/office/officeart/2005/8/layout/vList2"/>
    <dgm:cxn modelId="{A6196A05-A873-4629-8445-868CDE6764A7}" type="presOf" srcId="{5BB2D3C1-7F2E-4EE5-B0F5-EA5818526C12}" destId="{1AE9C4CB-4CE6-47E5-8CEF-73460F0371DB}" srcOrd="0" destOrd="0" presId="urn:microsoft.com/office/officeart/2005/8/layout/vList2"/>
    <dgm:cxn modelId="{5A34B20A-CB41-422A-8FBD-7058C4DC6A41}" type="presOf" srcId="{30634845-A82D-4EA4-ADF1-B3A6CEEEC41B}" destId="{E1A16E8F-BAF8-4E8D-A8D2-B604B4D764F7}" srcOrd="0" destOrd="0" presId="urn:microsoft.com/office/officeart/2005/8/layout/vList2"/>
    <dgm:cxn modelId="{A5A5C946-3AE4-4D77-A639-1BF36EE2EFC9}" srcId="{740E4C10-1AD2-4D06-A449-91A3DA1EACCB}" destId="{D1953E0C-36FA-432A-9BED-D5B4BCE614F9}" srcOrd="1" destOrd="0" parTransId="{510FFB6A-153F-4DE7-AE75-DE5F53695DE3}" sibTransId="{2B2C6B1F-7CFA-4732-8D44-202F95E9F0AC}"/>
    <dgm:cxn modelId="{CA5BAD74-6898-411E-B611-4D3BB5F7CFA8}" type="presOf" srcId="{04AB3F4A-9559-4D99-890D-B9D26AAB2A27}" destId="{EB218E4B-BC72-4EED-992E-118499B2DF92}" srcOrd="0" destOrd="0" presId="urn:microsoft.com/office/officeart/2005/8/layout/vList2"/>
    <dgm:cxn modelId="{1CA0467C-38AF-468A-A051-A08D9418F374}" srcId="{740E4C10-1AD2-4D06-A449-91A3DA1EACCB}" destId="{04AB3F4A-9559-4D99-890D-B9D26AAB2A27}" srcOrd="4" destOrd="0" parTransId="{C0B31EB0-27E2-4C71-976D-6FCB0BF8E670}" sibTransId="{398BB575-9496-470C-8ABA-ACFE4290C2B7}"/>
    <dgm:cxn modelId="{64EBA29E-2437-48DB-B223-EB4432B8C7C1}" srcId="{740E4C10-1AD2-4D06-A449-91A3DA1EACCB}" destId="{F9E5BC90-CF7B-4530-90C0-040F15931D4D}" srcOrd="0" destOrd="0" parTransId="{A206E7D3-6BE7-4686-BEC9-2342A19E04A7}" sibTransId="{C0814E7B-2922-4B92-BC47-98C64105D893}"/>
    <dgm:cxn modelId="{337EA5B3-B130-4C60-9F2B-93F8A1E83162}" type="presOf" srcId="{F9E5BC90-CF7B-4530-90C0-040F15931D4D}" destId="{2FD87A12-76A9-4F38-88C2-F5FD7CA0646A}" srcOrd="0" destOrd="0" presId="urn:microsoft.com/office/officeart/2005/8/layout/vList2"/>
    <dgm:cxn modelId="{637156F4-5E5E-42B6-A314-9CDF9795D6F8}" srcId="{740E4C10-1AD2-4D06-A449-91A3DA1EACCB}" destId="{30634845-A82D-4EA4-ADF1-B3A6CEEEC41B}" srcOrd="3" destOrd="0" parTransId="{CC3CCB06-9174-48B7-B2DA-40190F77318B}" sibTransId="{4B0B6545-C515-4338-8E84-BDB02F5544B8}"/>
    <dgm:cxn modelId="{EA8005FD-0F65-4974-9E82-856E9112FE84}" type="presOf" srcId="{D1953E0C-36FA-432A-9BED-D5B4BCE614F9}" destId="{03437B7E-11FD-4EC2-BCF6-0C31A48E2CB3}" srcOrd="0" destOrd="0" presId="urn:microsoft.com/office/officeart/2005/8/layout/vList2"/>
    <dgm:cxn modelId="{2EFA59F7-5FE2-4ABE-8ED3-2F1962441D28}" type="presParOf" srcId="{CBBC4593-258C-4E92-9C20-DF9DDD4B7611}" destId="{2FD87A12-76A9-4F38-88C2-F5FD7CA0646A}" srcOrd="0" destOrd="0" presId="urn:microsoft.com/office/officeart/2005/8/layout/vList2"/>
    <dgm:cxn modelId="{2F644E60-D4CF-4F6F-9622-FA9AC3A089B2}" type="presParOf" srcId="{CBBC4593-258C-4E92-9C20-DF9DDD4B7611}" destId="{C4E9FA13-498A-440B-9D17-E119A5B31AA6}" srcOrd="1" destOrd="0" presId="urn:microsoft.com/office/officeart/2005/8/layout/vList2"/>
    <dgm:cxn modelId="{E543AF3C-ABAD-4C8B-BE38-A97626367D6E}" type="presParOf" srcId="{CBBC4593-258C-4E92-9C20-DF9DDD4B7611}" destId="{03437B7E-11FD-4EC2-BCF6-0C31A48E2CB3}" srcOrd="2" destOrd="0" presId="urn:microsoft.com/office/officeart/2005/8/layout/vList2"/>
    <dgm:cxn modelId="{8779B5F0-B40A-44AA-AB51-36040C113256}" type="presParOf" srcId="{CBBC4593-258C-4E92-9C20-DF9DDD4B7611}" destId="{F1189E47-3EB5-420D-8A90-6B2BA24EAF3F}" srcOrd="3" destOrd="0" presId="urn:microsoft.com/office/officeart/2005/8/layout/vList2"/>
    <dgm:cxn modelId="{3E4BC778-A59A-4BE9-920F-07AB9D9C4772}" type="presParOf" srcId="{CBBC4593-258C-4E92-9C20-DF9DDD4B7611}" destId="{1AE9C4CB-4CE6-47E5-8CEF-73460F0371DB}" srcOrd="4" destOrd="0" presId="urn:microsoft.com/office/officeart/2005/8/layout/vList2"/>
    <dgm:cxn modelId="{317EF9C5-45A8-4859-80C5-B75005306765}" type="presParOf" srcId="{CBBC4593-258C-4E92-9C20-DF9DDD4B7611}" destId="{CA65F35E-2529-4346-9442-CACF5DADA93A}" srcOrd="5" destOrd="0" presId="urn:microsoft.com/office/officeart/2005/8/layout/vList2"/>
    <dgm:cxn modelId="{2CDDEB68-E7BB-4A35-99A6-63130D64A6B9}" type="presParOf" srcId="{CBBC4593-258C-4E92-9C20-DF9DDD4B7611}" destId="{E1A16E8F-BAF8-4E8D-A8D2-B604B4D764F7}" srcOrd="6" destOrd="0" presId="urn:microsoft.com/office/officeart/2005/8/layout/vList2"/>
    <dgm:cxn modelId="{60399CD3-1365-4605-849C-0FC81857B968}" type="presParOf" srcId="{CBBC4593-258C-4E92-9C20-DF9DDD4B7611}" destId="{AC4163F8-8716-4B88-AAC4-5D16C1DB5116}" srcOrd="7" destOrd="0" presId="urn:microsoft.com/office/officeart/2005/8/layout/vList2"/>
    <dgm:cxn modelId="{2C8FB06F-8187-4BB7-A685-B3601B1C0E27}" type="presParOf" srcId="{CBBC4593-258C-4E92-9C20-DF9DDD4B7611}" destId="{EB218E4B-BC72-4EED-992E-118499B2DF9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A9E352-3BE3-4848-805A-6956C90F555B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B781E27-1BBB-40B0-9F84-FC7778A2F248}">
      <dgm:prSet/>
      <dgm:spPr/>
      <dgm:t>
        <a:bodyPr/>
        <a:lstStyle/>
        <a:p>
          <a:r>
            <a:rPr lang="en-US"/>
            <a:t>Dataset contains Orders, Products, Customers, Suppliers, Locations and Sales.</a:t>
          </a:r>
        </a:p>
      </dgm:t>
    </dgm:pt>
    <dgm:pt modelId="{FD5100D8-5A13-468D-B4BB-C5CA6B572598}" type="parTrans" cxnId="{AE42CA2F-FE74-475B-A21E-BACD91191BB3}">
      <dgm:prSet/>
      <dgm:spPr/>
      <dgm:t>
        <a:bodyPr/>
        <a:lstStyle/>
        <a:p>
          <a:endParaRPr lang="en-US"/>
        </a:p>
      </dgm:t>
    </dgm:pt>
    <dgm:pt modelId="{E2C046FC-5B9E-48B7-963D-50B9D7278A45}" type="sibTrans" cxnId="{AE42CA2F-FE74-475B-A21E-BACD91191BB3}">
      <dgm:prSet/>
      <dgm:spPr/>
      <dgm:t>
        <a:bodyPr/>
        <a:lstStyle/>
        <a:p>
          <a:endParaRPr lang="en-US"/>
        </a:p>
      </dgm:t>
    </dgm:pt>
    <dgm:pt modelId="{5AA647AC-BCDA-4AED-9C57-2C670776B613}">
      <dgm:prSet/>
      <dgm:spPr/>
      <dgm:t>
        <a:bodyPr/>
        <a:lstStyle/>
        <a:p>
          <a:r>
            <a:rPr lang="en-US"/>
            <a:t>Star schema with Fact Sales and Dimension tables.</a:t>
          </a:r>
        </a:p>
      </dgm:t>
    </dgm:pt>
    <dgm:pt modelId="{E97197A0-B933-4690-8221-A25010C33D2D}" type="parTrans" cxnId="{497716CC-7BF1-4898-93D5-0077B21B6894}">
      <dgm:prSet/>
      <dgm:spPr/>
      <dgm:t>
        <a:bodyPr/>
        <a:lstStyle/>
        <a:p>
          <a:endParaRPr lang="en-US"/>
        </a:p>
      </dgm:t>
    </dgm:pt>
    <dgm:pt modelId="{BC988367-0B52-4270-9899-8A5C0CE893B0}" type="sibTrans" cxnId="{497716CC-7BF1-4898-93D5-0077B21B6894}">
      <dgm:prSet/>
      <dgm:spPr/>
      <dgm:t>
        <a:bodyPr/>
        <a:lstStyle/>
        <a:p>
          <a:endParaRPr lang="en-US"/>
        </a:p>
      </dgm:t>
    </dgm:pt>
    <dgm:pt modelId="{E2E02CB9-CDB3-4FD5-BF1C-5FDF87D1140C}">
      <dgm:prSet/>
      <dgm:spPr/>
      <dgm:t>
        <a:bodyPr/>
        <a:lstStyle/>
        <a:p>
          <a:r>
            <a:rPr lang="en-US"/>
            <a:t>KPIs: Revenue, Profit, Margin, AOV, Delivery KPIs.</a:t>
          </a:r>
        </a:p>
      </dgm:t>
    </dgm:pt>
    <dgm:pt modelId="{58BD3FA0-006C-43F1-A36E-D70CE3829EC8}" type="parTrans" cxnId="{4539EFBF-38F3-4AC9-B28F-AC07C3AB39F0}">
      <dgm:prSet/>
      <dgm:spPr/>
      <dgm:t>
        <a:bodyPr/>
        <a:lstStyle/>
        <a:p>
          <a:endParaRPr lang="en-US"/>
        </a:p>
      </dgm:t>
    </dgm:pt>
    <dgm:pt modelId="{AF14A8F6-8FE4-40C3-BCFF-EB1B44239060}" type="sibTrans" cxnId="{4539EFBF-38F3-4AC9-B28F-AC07C3AB39F0}">
      <dgm:prSet/>
      <dgm:spPr/>
      <dgm:t>
        <a:bodyPr/>
        <a:lstStyle/>
        <a:p>
          <a:endParaRPr lang="en-US"/>
        </a:p>
      </dgm:t>
    </dgm:pt>
    <dgm:pt modelId="{F50729A6-CD51-4DC3-A518-D28B82E1F79D}" type="pres">
      <dgm:prSet presAssocID="{5CA9E352-3BE3-4848-805A-6956C90F555B}" presName="Name0" presStyleCnt="0">
        <dgm:presLayoutVars>
          <dgm:dir/>
          <dgm:animLvl val="lvl"/>
          <dgm:resizeHandles val="exact"/>
        </dgm:presLayoutVars>
      </dgm:prSet>
      <dgm:spPr/>
    </dgm:pt>
    <dgm:pt modelId="{738C9A95-4772-46DA-8AD0-566B05C3F3BC}" type="pres">
      <dgm:prSet presAssocID="{E2E02CB9-CDB3-4FD5-BF1C-5FDF87D1140C}" presName="boxAndChildren" presStyleCnt="0"/>
      <dgm:spPr/>
    </dgm:pt>
    <dgm:pt modelId="{E9F50FC3-1061-4448-B7E3-8530303DAD1E}" type="pres">
      <dgm:prSet presAssocID="{E2E02CB9-CDB3-4FD5-BF1C-5FDF87D1140C}" presName="parentTextBox" presStyleLbl="node1" presStyleIdx="0" presStyleCnt="3"/>
      <dgm:spPr/>
    </dgm:pt>
    <dgm:pt modelId="{75719CCF-F1F9-4C27-96E9-80D1AAC5F532}" type="pres">
      <dgm:prSet presAssocID="{BC988367-0B52-4270-9899-8A5C0CE893B0}" presName="sp" presStyleCnt="0"/>
      <dgm:spPr/>
    </dgm:pt>
    <dgm:pt modelId="{1D2DF656-8174-47D3-8D83-FA2B88374229}" type="pres">
      <dgm:prSet presAssocID="{5AA647AC-BCDA-4AED-9C57-2C670776B613}" presName="arrowAndChildren" presStyleCnt="0"/>
      <dgm:spPr/>
    </dgm:pt>
    <dgm:pt modelId="{A4C890FB-D9B1-43C6-AAD4-8A0B0E39EA11}" type="pres">
      <dgm:prSet presAssocID="{5AA647AC-BCDA-4AED-9C57-2C670776B613}" presName="parentTextArrow" presStyleLbl="node1" presStyleIdx="1" presStyleCnt="3"/>
      <dgm:spPr/>
    </dgm:pt>
    <dgm:pt modelId="{05851401-7D31-4BBA-909F-CF8C381FEE35}" type="pres">
      <dgm:prSet presAssocID="{E2C046FC-5B9E-48B7-963D-50B9D7278A45}" presName="sp" presStyleCnt="0"/>
      <dgm:spPr/>
    </dgm:pt>
    <dgm:pt modelId="{15C9AB6D-F172-43BF-9D4D-AF6EF4FBFB60}" type="pres">
      <dgm:prSet presAssocID="{3B781E27-1BBB-40B0-9F84-FC7778A2F248}" presName="arrowAndChildren" presStyleCnt="0"/>
      <dgm:spPr/>
    </dgm:pt>
    <dgm:pt modelId="{5225463E-2719-4453-BE75-ED6E707956CD}" type="pres">
      <dgm:prSet presAssocID="{3B781E27-1BBB-40B0-9F84-FC7778A2F248}" presName="parentTextArrow" presStyleLbl="node1" presStyleIdx="2" presStyleCnt="3"/>
      <dgm:spPr/>
    </dgm:pt>
  </dgm:ptLst>
  <dgm:cxnLst>
    <dgm:cxn modelId="{AE42CA2F-FE74-475B-A21E-BACD91191BB3}" srcId="{5CA9E352-3BE3-4848-805A-6956C90F555B}" destId="{3B781E27-1BBB-40B0-9F84-FC7778A2F248}" srcOrd="0" destOrd="0" parTransId="{FD5100D8-5A13-468D-B4BB-C5CA6B572598}" sibTransId="{E2C046FC-5B9E-48B7-963D-50B9D7278A45}"/>
    <dgm:cxn modelId="{5B58ED73-B56D-4ACA-9E60-820B98F9EFBF}" type="presOf" srcId="{5CA9E352-3BE3-4848-805A-6956C90F555B}" destId="{F50729A6-CD51-4DC3-A518-D28B82E1F79D}" srcOrd="0" destOrd="0" presId="urn:microsoft.com/office/officeart/2005/8/layout/process4"/>
    <dgm:cxn modelId="{A9409B7A-78F8-4DB0-A378-FD45A78AB811}" type="presOf" srcId="{5AA647AC-BCDA-4AED-9C57-2C670776B613}" destId="{A4C890FB-D9B1-43C6-AAD4-8A0B0E39EA11}" srcOrd="0" destOrd="0" presId="urn:microsoft.com/office/officeart/2005/8/layout/process4"/>
    <dgm:cxn modelId="{4539EFBF-38F3-4AC9-B28F-AC07C3AB39F0}" srcId="{5CA9E352-3BE3-4848-805A-6956C90F555B}" destId="{E2E02CB9-CDB3-4FD5-BF1C-5FDF87D1140C}" srcOrd="2" destOrd="0" parTransId="{58BD3FA0-006C-43F1-A36E-D70CE3829EC8}" sibTransId="{AF14A8F6-8FE4-40C3-BCFF-EB1B44239060}"/>
    <dgm:cxn modelId="{497716CC-7BF1-4898-93D5-0077B21B6894}" srcId="{5CA9E352-3BE3-4848-805A-6956C90F555B}" destId="{5AA647AC-BCDA-4AED-9C57-2C670776B613}" srcOrd="1" destOrd="0" parTransId="{E97197A0-B933-4690-8221-A25010C33D2D}" sibTransId="{BC988367-0B52-4270-9899-8A5C0CE893B0}"/>
    <dgm:cxn modelId="{284496DE-5267-467B-B63F-5F7786B0FAC3}" type="presOf" srcId="{E2E02CB9-CDB3-4FD5-BF1C-5FDF87D1140C}" destId="{E9F50FC3-1061-4448-B7E3-8530303DAD1E}" srcOrd="0" destOrd="0" presId="urn:microsoft.com/office/officeart/2005/8/layout/process4"/>
    <dgm:cxn modelId="{2B8757E1-B0EE-4D36-9357-D35577E11B5A}" type="presOf" srcId="{3B781E27-1BBB-40B0-9F84-FC7778A2F248}" destId="{5225463E-2719-4453-BE75-ED6E707956CD}" srcOrd="0" destOrd="0" presId="urn:microsoft.com/office/officeart/2005/8/layout/process4"/>
    <dgm:cxn modelId="{49F14BB9-06FE-45EF-B8E8-6CACA7D9FDA4}" type="presParOf" srcId="{F50729A6-CD51-4DC3-A518-D28B82E1F79D}" destId="{738C9A95-4772-46DA-8AD0-566B05C3F3BC}" srcOrd="0" destOrd="0" presId="urn:microsoft.com/office/officeart/2005/8/layout/process4"/>
    <dgm:cxn modelId="{31AFDF23-E79B-4BED-ADA2-08CC60DC1B93}" type="presParOf" srcId="{738C9A95-4772-46DA-8AD0-566B05C3F3BC}" destId="{E9F50FC3-1061-4448-B7E3-8530303DAD1E}" srcOrd="0" destOrd="0" presId="urn:microsoft.com/office/officeart/2005/8/layout/process4"/>
    <dgm:cxn modelId="{520600D3-6705-455B-A289-4D6C147BF43C}" type="presParOf" srcId="{F50729A6-CD51-4DC3-A518-D28B82E1F79D}" destId="{75719CCF-F1F9-4C27-96E9-80D1AAC5F532}" srcOrd="1" destOrd="0" presId="urn:microsoft.com/office/officeart/2005/8/layout/process4"/>
    <dgm:cxn modelId="{6B13D42A-5AC5-4AA7-9E43-3349C207EAB0}" type="presParOf" srcId="{F50729A6-CD51-4DC3-A518-D28B82E1F79D}" destId="{1D2DF656-8174-47D3-8D83-FA2B88374229}" srcOrd="2" destOrd="0" presId="urn:microsoft.com/office/officeart/2005/8/layout/process4"/>
    <dgm:cxn modelId="{E62F1120-3C93-4ECF-AA39-4EB7C0EFBAFF}" type="presParOf" srcId="{1D2DF656-8174-47D3-8D83-FA2B88374229}" destId="{A4C890FB-D9B1-43C6-AAD4-8A0B0E39EA11}" srcOrd="0" destOrd="0" presId="urn:microsoft.com/office/officeart/2005/8/layout/process4"/>
    <dgm:cxn modelId="{8EC694B2-709B-4343-9122-2362F027C60D}" type="presParOf" srcId="{F50729A6-CD51-4DC3-A518-D28B82E1F79D}" destId="{05851401-7D31-4BBA-909F-CF8C381FEE35}" srcOrd="3" destOrd="0" presId="urn:microsoft.com/office/officeart/2005/8/layout/process4"/>
    <dgm:cxn modelId="{D1E61823-F828-4D47-96D8-7F8EF6E7D70F}" type="presParOf" srcId="{F50729A6-CD51-4DC3-A518-D28B82E1F79D}" destId="{15C9AB6D-F172-43BF-9D4D-AF6EF4FBFB60}" srcOrd="4" destOrd="0" presId="urn:microsoft.com/office/officeart/2005/8/layout/process4"/>
    <dgm:cxn modelId="{7661B75A-D378-4747-98DF-347135746177}" type="presParOf" srcId="{15C9AB6D-F172-43BF-9D4D-AF6EF4FBFB60}" destId="{5225463E-2719-4453-BE75-ED6E707956C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4CFC69-EC05-4C55-BC10-92BE6521C9D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3320FB3-62C8-4012-994A-43900B8999C1}">
      <dgm:prSet/>
      <dgm:spPr/>
      <dgm:t>
        <a:bodyPr/>
        <a:lstStyle/>
        <a:p>
          <a:r>
            <a:rPr lang="en-US"/>
            <a:t>• Improve supplier performance.</a:t>
          </a:r>
        </a:p>
      </dgm:t>
    </dgm:pt>
    <dgm:pt modelId="{30423582-9CB4-4810-9B82-890B64305BD3}" type="parTrans" cxnId="{09D278C8-FA37-4D52-AC39-DEDC73524CD3}">
      <dgm:prSet/>
      <dgm:spPr/>
      <dgm:t>
        <a:bodyPr/>
        <a:lstStyle/>
        <a:p>
          <a:endParaRPr lang="en-US"/>
        </a:p>
      </dgm:t>
    </dgm:pt>
    <dgm:pt modelId="{D86768C5-6060-4797-9193-F5923E0008CF}" type="sibTrans" cxnId="{09D278C8-FA37-4D52-AC39-DEDC73524CD3}">
      <dgm:prSet/>
      <dgm:spPr/>
      <dgm:t>
        <a:bodyPr/>
        <a:lstStyle/>
        <a:p>
          <a:endParaRPr lang="en-US"/>
        </a:p>
      </dgm:t>
    </dgm:pt>
    <dgm:pt modelId="{513B79EA-4CEB-43D6-B08B-75DE99BB2AB6}">
      <dgm:prSet/>
      <dgm:spPr/>
      <dgm:t>
        <a:bodyPr/>
        <a:lstStyle/>
        <a:p>
          <a:r>
            <a:rPr lang="en-US"/>
            <a:t>• Optimize logistics and delivery scheduling.</a:t>
          </a:r>
        </a:p>
      </dgm:t>
    </dgm:pt>
    <dgm:pt modelId="{5222292D-6539-4B39-A915-5D084A8C6123}" type="parTrans" cxnId="{EE9AA358-FA3D-484D-89B9-D666F34A5275}">
      <dgm:prSet/>
      <dgm:spPr/>
      <dgm:t>
        <a:bodyPr/>
        <a:lstStyle/>
        <a:p>
          <a:endParaRPr lang="en-US"/>
        </a:p>
      </dgm:t>
    </dgm:pt>
    <dgm:pt modelId="{A2354940-5CDF-48EE-974A-380A9752DCC1}" type="sibTrans" cxnId="{EE9AA358-FA3D-484D-89B9-D666F34A5275}">
      <dgm:prSet/>
      <dgm:spPr/>
      <dgm:t>
        <a:bodyPr/>
        <a:lstStyle/>
        <a:p>
          <a:endParaRPr lang="en-US"/>
        </a:p>
      </dgm:t>
    </dgm:pt>
    <dgm:pt modelId="{D6E7FB15-926B-4144-B59F-5B69B6E4CF35}">
      <dgm:prSet/>
      <dgm:spPr/>
      <dgm:t>
        <a:bodyPr/>
        <a:lstStyle/>
        <a:p>
          <a:r>
            <a:rPr lang="en-US"/>
            <a:t>• Align inventory with demand.</a:t>
          </a:r>
        </a:p>
      </dgm:t>
    </dgm:pt>
    <dgm:pt modelId="{B14B5A30-627B-4C0D-AB84-E150EE7825FB}" type="parTrans" cxnId="{EA52D770-CF32-4BB9-A5CD-A769A188B63E}">
      <dgm:prSet/>
      <dgm:spPr/>
      <dgm:t>
        <a:bodyPr/>
        <a:lstStyle/>
        <a:p>
          <a:endParaRPr lang="en-US"/>
        </a:p>
      </dgm:t>
    </dgm:pt>
    <dgm:pt modelId="{18D18472-240A-4A13-992F-A14302D0F5AC}" type="sibTrans" cxnId="{EA52D770-CF32-4BB9-A5CD-A769A188B63E}">
      <dgm:prSet/>
      <dgm:spPr/>
      <dgm:t>
        <a:bodyPr/>
        <a:lstStyle/>
        <a:p>
          <a:endParaRPr lang="en-US"/>
        </a:p>
      </dgm:t>
    </dgm:pt>
    <dgm:pt modelId="{D0F57404-4E7E-4C5E-92C8-C216DCE704CC}">
      <dgm:prSet/>
      <dgm:spPr/>
      <dgm:t>
        <a:bodyPr/>
        <a:lstStyle/>
        <a:p>
          <a:r>
            <a:rPr lang="en-US"/>
            <a:t>• Improve packaging for high-damage products.</a:t>
          </a:r>
        </a:p>
      </dgm:t>
    </dgm:pt>
    <dgm:pt modelId="{24F67318-929A-4165-A5A5-C24EF2750861}" type="parTrans" cxnId="{4F39B050-73A2-4F26-A07F-F7A52834D628}">
      <dgm:prSet/>
      <dgm:spPr/>
      <dgm:t>
        <a:bodyPr/>
        <a:lstStyle/>
        <a:p>
          <a:endParaRPr lang="en-US"/>
        </a:p>
      </dgm:t>
    </dgm:pt>
    <dgm:pt modelId="{42D133E6-A70A-4701-9CF6-156B53B8D1A5}" type="sibTrans" cxnId="{4F39B050-73A2-4F26-A07F-F7A52834D628}">
      <dgm:prSet/>
      <dgm:spPr/>
      <dgm:t>
        <a:bodyPr/>
        <a:lstStyle/>
        <a:p>
          <a:endParaRPr lang="en-US"/>
        </a:p>
      </dgm:t>
    </dgm:pt>
    <dgm:pt modelId="{4D566D8E-6A7C-49D7-ACBD-30554CF4253F}">
      <dgm:prSet/>
      <dgm:spPr/>
      <dgm:t>
        <a:bodyPr/>
        <a:lstStyle/>
        <a:p>
          <a:r>
            <a:rPr lang="en-US"/>
            <a:t>• Invest in high-margin product categories.</a:t>
          </a:r>
        </a:p>
      </dgm:t>
    </dgm:pt>
    <dgm:pt modelId="{8F0014E1-1AF3-49F6-B88D-C1DBD603E542}" type="parTrans" cxnId="{1F54FA79-A4BD-4B95-9D0B-FAA86E3A0C5E}">
      <dgm:prSet/>
      <dgm:spPr/>
      <dgm:t>
        <a:bodyPr/>
        <a:lstStyle/>
        <a:p>
          <a:endParaRPr lang="en-US"/>
        </a:p>
      </dgm:t>
    </dgm:pt>
    <dgm:pt modelId="{21DD1C3A-83BB-4075-962A-6EEE0CC008A6}" type="sibTrans" cxnId="{1F54FA79-A4BD-4B95-9D0B-FAA86E3A0C5E}">
      <dgm:prSet/>
      <dgm:spPr/>
      <dgm:t>
        <a:bodyPr/>
        <a:lstStyle/>
        <a:p>
          <a:endParaRPr lang="en-US"/>
        </a:p>
      </dgm:t>
    </dgm:pt>
    <dgm:pt modelId="{B2A26A25-8EC6-4851-86C8-241D17FB74DD}" type="pres">
      <dgm:prSet presAssocID="{EF4CFC69-EC05-4C55-BC10-92BE6521C9D5}" presName="root" presStyleCnt="0">
        <dgm:presLayoutVars>
          <dgm:dir/>
          <dgm:resizeHandles val="exact"/>
        </dgm:presLayoutVars>
      </dgm:prSet>
      <dgm:spPr/>
    </dgm:pt>
    <dgm:pt modelId="{8FAE560A-648D-4681-A682-EB55AD6BF0B0}" type="pres">
      <dgm:prSet presAssocID="{D3320FB3-62C8-4012-994A-43900B8999C1}" presName="compNode" presStyleCnt="0"/>
      <dgm:spPr/>
    </dgm:pt>
    <dgm:pt modelId="{7F725032-FCD2-4944-AC27-1B1B18A34C17}" type="pres">
      <dgm:prSet presAssocID="{D3320FB3-62C8-4012-994A-43900B8999C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2AB2ABD-DF9C-44E5-BEA8-5E09EA3373DD}" type="pres">
      <dgm:prSet presAssocID="{D3320FB3-62C8-4012-994A-43900B8999C1}" presName="spaceRect" presStyleCnt="0"/>
      <dgm:spPr/>
    </dgm:pt>
    <dgm:pt modelId="{F67751E9-AEA5-4EB3-9DBA-70A6083D712F}" type="pres">
      <dgm:prSet presAssocID="{D3320FB3-62C8-4012-994A-43900B8999C1}" presName="textRect" presStyleLbl="revTx" presStyleIdx="0" presStyleCnt="5">
        <dgm:presLayoutVars>
          <dgm:chMax val="1"/>
          <dgm:chPref val="1"/>
        </dgm:presLayoutVars>
      </dgm:prSet>
      <dgm:spPr/>
    </dgm:pt>
    <dgm:pt modelId="{DE47FDD9-77B4-45E0-B30E-E3E943563946}" type="pres">
      <dgm:prSet presAssocID="{D86768C5-6060-4797-9193-F5923E0008CF}" presName="sibTrans" presStyleCnt="0"/>
      <dgm:spPr/>
    </dgm:pt>
    <dgm:pt modelId="{E4DF14BE-4DCA-416B-958B-551825171767}" type="pres">
      <dgm:prSet presAssocID="{513B79EA-4CEB-43D6-B08B-75DE99BB2AB6}" presName="compNode" presStyleCnt="0"/>
      <dgm:spPr/>
    </dgm:pt>
    <dgm:pt modelId="{855EEA5F-5C04-482A-B365-4E76B5CB10E9}" type="pres">
      <dgm:prSet presAssocID="{513B79EA-4CEB-43D6-B08B-75DE99BB2AB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8CB9E10C-CE2D-44C7-9106-132A2703C73D}" type="pres">
      <dgm:prSet presAssocID="{513B79EA-4CEB-43D6-B08B-75DE99BB2AB6}" presName="spaceRect" presStyleCnt="0"/>
      <dgm:spPr/>
    </dgm:pt>
    <dgm:pt modelId="{4A17477D-5568-4AF7-985E-AA09CD90B962}" type="pres">
      <dgm:prSet presAssocID="{513B79EA-4CEB-43D6-B08B-75DE99BB2AB6}" presName="textRect" presStyleLbl="revTx" presStyleIdx="1" presStyleCnt="5">
        <dgm:presLayoutVars>
          <dgm:chMax val="1"/>
          <dgm:chPref val="1"/>
        </dgm:presLayoutVars>
      </dgm:prSet>
      <dgm:spPr/>
    </dgm:pt>
    <dgm:pt modelId="{93361883-4148-4364-8751-FF91194AB687}" type="pres">
      <dgm:prSet presAssocID="{A2354940-5CDF-48EE-974A-380A9752DCC1}" presName="sibTrans" presStyleCnt="0"/>
      <dgm:spPr/>
    </dgm:pt>
    <dgm:pt modelId="{CC606802-0BD2-43D8-BD31-64103D079856}" type="pres">
      <dgm:prSet presAssocID="{D6E7FB15-926B-4144-B59F-5B69B6E4CF35}" presName="compNode" presStyleCnt="0"/>
      <dgm:spPr/>
    </dgm:pt>
    <dgm:pt modelId="{777EC6F8-B5FD-42C9-AF7E-B26068B024A9}" type="pres">
      <dgm:prSet presAssocID="{D6E7FB15-926B-4144-B59F-5B69B6E4CF3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BD488285-E9D6-43D7-9103-00238B6AE304}" type="pres">
      <dgm:prSet presAssocID="{D6E7FB15-926B-4144-B59F-5B69B6E4CF35}" presName="spaceRect" presStyleCnt="0"/>
      <dgm:spPr/>
    </dgm:pt>
    <dgm:pt modelId="{9B440CCD-E8F4-4BD5-9838-6B89A5AE8731}" type="pres">
      <dgm:prSet presAssocID="{D6E7FB15-926B-4144-B59F-5B69B6E4CF35}" presName="textRect" presStyleLbl="revTx" presStyleIdx="2" presStyleCnt="5">
        <dgm:presLayoutVars>
          <dgm:chMax val="1"/>
          <dgm:chPref val="1"/>
        </dgm:presLayoutVars>
      </dgm:prSet>
      <dgm:spPr/>
    </dgm:pt>
    <dgm:pt modelId="{46A97BB7-3263-40EA-857D-D7F4F8DCCC6A}" type="pres">
      <dgm:prSet presAssocID="{18D18472-240A-4A13-992F-A14302D0F5AC}" presName="sibTrans" presStyleCnt="0"/>
      <dgm:spPr/>
    </dgm:pt>
    <dgm:pt modelId="{5A76D007-2A96-4FA5-AD99-F4B25B0F1FA2}" type="pres">
      <dgm:prSet presAssocID="{D0F57404-4E7E-4C5E-92C8-C216DCE704CC}" presName="compNode" presStyleCnt="0"/>
      <dgm:spPr/>
    </dgm:pt>
    <dgm:pt modelId="{10F1E389-BD51-4465-BD4E-A1A30222D108}" type="pres">
      <dgm:prSet presAssocID="{D0F57404-4E7E-4C5E-92C8-C216DCE704C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616B4F16-CC5C-4BBB-9DF1-5D845F962ECA}" type="pres">
      <dgm:prSet presAssocID="{D0F57404-4E7E-4C5E-92C8-C216DCE704CC}" presName="spaceRect" presStyleCnt="0"/>
      <dgm:spPr/>
    </dgm:pt>
    <dgm:pt modelId="{78B9DD38-018A-40B1-BDD8-C1393A30229D}" type="pres">
      <dgm:prSet presAssocID="{D0F57404-4E7E-4C5E-92C8-C216DCE704CC}" presName="textRect" presStyleLbl="revTx" presStyleIdx="3" presStyleCnt="5">
        <dgm:presLayoutVars>
          <dgm:chMax val="1"/>
          <dgm:chPref val="1"/>
        </dgm:presLayoutVars>
      </dgm:prSet>
      <dgm:spPr/>
    </dgm:pt>
    <dgm:pt modelId="{9DA5E321-024E-49A5-8D66-74C3B744345E}" type="pres">
      <dgm:prSet presAssocID="{42D133E6-A70A-4701-9CF6-156B53B8D1A5}" presName="sibTrans" presStyleCnt="0"/>
      <dgm:spPr/>
    </dgm:pt>
    <dgm:pt modelId="{31CD72F3-4C67-4757-A98A-D558AF229FC0}" type="pres">
      <dgm:prSet presAssocID="{4D566D8E-6A7C-49D7-ACBD-30554CF4253F}" presName="compNode" presStyleCnt="0"/>
      <dgm:spPr/>
    </dgm:pt>
    <dgm:pt modelId="{D945F86E-A7CB-4AC5-B443-49BE334327A0}" type="pres">
      <dgm:prSet presAssocID="{4D566D8E-6A7C-49D7-ACBD-30554CF4253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AF29B036-06E3-4235-B20A-B7363AFF57A8}" type="pres">
      <dgm:prSet presAssocID="{4D566D8E-6A7C-49D7-ACBD-30554CF4253F}" presName="spaceRect" presStyleCnt="0"/>
      <dgm:spPr/>
    </dgm:pt>
    <dgm:pt modelId="{985FD62D-7A3F-492E-B5B6-35B161A1F716}" type="pres">
      <dgm:prSet presAssocID="{4D566D8E-6A7C-49D7-ACBD-30554CF4253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BD00A10-6030-4211-81AC-3C3ECB9AD5AA}" type="presOf" srcId="{4D566D8E-6A7C-49D7-ACBD-30554CF4253F}" destId="{985FD62D-7A3F-492E-B5B6-35B161A1F716}" srcOrd="0" destOrd="0" presId="urn:microsoft.com/office/officeart/2018/2/layout/IconLabelList"/>
    <dgm:cxn modelId="{4F39B050-73A2-4F26-A07F-F7A52834D628}" srcId="{EF4CFC69-EC05-4C55-BC10-92BE6521C9D5}" destId="{D0F57404-4E7E-4C5E-92C8-C216DCE704CC}" srcOrd="3" destOrd="0" parTransId="{24F67318-929A-4165-A5A5-C24EF2750861}" sibTransId="{42D133E6-A70A-4701-9CF6-156B53B8D1A5}"/>
    <dgm:cxn modelId="{EA52D770-CF32-4BB9-A5CD-A769A188B63E}" srcId="{EF4CFC69-EC05-4C55-BC10-92BE6521C9D5}" destId="{D6E7FB15-926B-4144-B59F-5B69B6E4CF35}" srcOrd="2" destOrd="0" parTransId="{B14B5A30-627B-4C0D-AB84-E150EE7825FB}" sibTransId="{18D18472-240A-4A13-992F-A14302D0F5AC}"/>
    <dgm:cxn modelId="{EE9AA358-FA3D-484D-89B9-D666F34A5275}" srcId="{EF4CFC69-EC05-4C55-BC10-92BE6521C9D5}" destId="{513B79EA-4CEB-43D6-B08B-75DE99BB2AB6}" srcOrd="1" destOrd="0" parTransId="{5222292D-6539-4B39-A915-5D084A8C6123}" sibTransId="{A2354940-5CDF-48EE-974A-380A9752DCC1}"/>
    <dgm:cxn modelId="{1F54FA79-A4BD-4B95-9D0B-FAA86E3A0C5E}" srcId="{EF4CFC69-EC05-4C55-BC10-92BE6521C9D5}" destId="{4D566D8E-6A7C-49D7-ACBD-30554CF4253F}" srcOrd="4" destOrd="0" parTransId="{8F0014E1-1AF3-49F6-B88D-C1DBD603E542}" sibTransId="{21DD1C3A-83BB-4075-962A-6EEE0CC008A6}"/>
    <dgm:cxn modelId="{DA2A807B-FD32-47F6-8405-37AEA193E465}" type="presOf" srcId="{EF4CFC69-EC05-4C55-BC10-92BE6521C9D5}" destId="{B2A26A25-8EC6-4851-86C8-241D17FB74DD}" srcOrd="0" destOrd="0" presId="urn:microsoft.com/office/officeart/2018/2/layout/IconLabelList"/>
    <dgm:cxn modelId="{8CC933B8-234A-4E72-B6B2-8B24A323F31D}" type="presOf" srcId="{D3320FB3-62C8-4012-994A-43900B8999C1}" destId="{F67751E9-AEA5-4EB3-9DBA-70A6083D712F}" srcOrd="0" destOrd="0" presId="urn:microsoft.com/office/officeart/2018/2/layout/IconLabelList"/>
    <dgm:cxn modelId="{3AE870BF-081D-4992-BD7B-B88BCA2524DC}" type="presOf" srcId="{513B79EA-4CEB-43D6-B08B-75DE99BB2AB6}" destId="{4A17477D-5568-4AF7-985E-AA09CD90B962}" srcOrd="0" destOrd="0" presId="urn:microsoft.com/office/officeart/2018/2/layout/IconLabelList"/>
    <dgm:cxn modelId="{09D278C8-FA37-4D52-AC39-DEDC73524CD3}" srcId="{EF4CFC69-EC05-4C55-BC10-92BE6521C9D5}" destId="{D3320FB3-62C8-4012-994A-43900B8999C1}" srcOrd="0" destOrd="0" parTransId="{30423582-9CB4-4810-9B82-890B64305BD3}" sibTransId="{D86768C5-6060-4797-9193-F5923E0008CF}"/>
    <dgm:cxn modelId="{A58FE2CE-7D46-423D-A267-1F07332761D3}" type="presOf" srcId="{D6E7FB15-926B-4144-B59F-5B69B6E4CF35}" destId="{9B440CCD-E8F4-4BD5-9838-6B89A5AE8731}" srcOrd="0" destOrd="0" presId="urn:microsoft.com/office/officeart/2018/2/layout/IconLabelList"/>
    <dgm:cxn modelId="{5700DBDC-B4B6-4D7A-B88C-27BD9AC5D278}" type="presOf" srcId="{D0F57404-4E7E-4C5E-92C8-C216DCE704CC}" destId="{78B9DD38-018A-40B1-BDD8-C1393A30229D}" srcOrd="0" destOrd="0" presId="urn:microsoft.com/office/officeart/2018/2/layout/IconLabelList"/>
    <dgm:cxn modelId="{098A18F1-450F-44BD-A3BB-819F72C194A3}" type="presParOf" srcId="{B2A26A25-8EC6-4851-86C8-241D17FB74DD}" destId="{8FAE560A-648D-4681-A682-EB55AD6BF0B0}" srcOrd="0" destOrd="0" presId="urn:microsoft.com/office/officeart/2018/2/layout/IconLabelList"/>
    <dgm:cxn modelId="{40B12564-D84F-42BA-97A0-C38006D6A106}" type="presParOf" srcId="{8FAE560A-648D-4681-A682-EB55AD6BF0B0}" destId="{7F725032-FCD2-4944-AC27-1B1B18A34C17}" srcOrd="0" destOrd="0" presId="urn:microsoft.com/office/officeart/2018/2/layout/IconLabelList"/>
    <dgm:cxn modelId="{22788FC8-0AAF-4CE9-944D-925387861EA6}" type="presParOf" srcId="{8FAE560A-648D-4681-A682-EB55AD6BF0B0}" destId="{12AB2ABD-DF9C-44E5-BEA8-5E09EA3373DD}" srcOrd="1" destOrd="0" presId="urn:microsoft.com/office/officeart/2018/2/layout/IconLabelList"/>
    <dgm:cxn modelId="{1B919042-D976-4096-B975-887452FD95C4}" type="presParOf" srcId="{8FAE560A-648D-4681-A682-EB55AD6BF0B0}" destId="{F67751E9-AEA5-4EB3-9DBA-70A6083D712F}" srcOrd="2" destOrd="0" presId="urn:microsoft.com/office/officeart/2018/2/layout/IconLabelList"/>
    <dgm:cxn modelId="{6BF2DC53-D158-4583-A7D7-CE8B3B671445}" type="presParOf" srcId="{B2A26A25-8EC6-4851-86C8-241D17FB74DD}" destId="{DE47FDD9-77B4-45E0-B30E-E3E943563946}" srcOrd="1" destOrd="0" presId="urn:microsoft.com/office/officeart/2018/2/layout/IconLabelList"/>
    <dgm:cxn modelId="{82658272-732B-4BE1-A1AD-DB09AF95A437}" type="presParOf" srcId="{B2A26A25-8EC6-4851-86C8-241D17FB74DD}" destId="{E4DF14BE-4DCA-416B-958B-551825171767}" srcOrd="2" destOrd="0" presId="urn:microsoft.com/office/officeart/2018/2/layout/IconLabelList"/>
    <dgm:cxn modelId="{13AFF863-AC4F-4E34-9B7A-3237A053EC2A}" type="presParOf" srcId="{E4DF14BE-4DCA-416B-958B-551825171767}" destId="{855EEA5F-5C04-482A-B365-4E76B5CB10E9}" srcOrd="0" destOrd="0" presId="urn:microsoft.com/office/officeart/2018/2/layout/IconLabelList"/>
    <dgm:cxn modelId="{CE1E5D2E-F1DA-41D5-8417-6C588DB76A5E}" type="presParOf" srcId="{E4DF14BE-4DCA-416B-958B-551825171767}" destId="{8CB9E10C-CE2D-44C7-9106-132A2703C73D}" srcOrd="1" destOrd="0" presId="urn:microsoft.com/office/officeart/2018/2/layout/IconLabelList"/>
    <dgm:cxn modelId="{736AEBB3-F032-4809-9C60-4D9DD0198F8C}" type="presParOf" srcId="{E4DF14BE-4DCA-416B-958B-551825171767}" destId="{4A17477D-5568-4AF7-985E-AA09CD90B962}" srcOrd="2" destOrd="0" presId="urn:microsoft.com/office/officeart/2018/2/layout/IconLabelList"/>
    <dgm:cxn modelId="{0AD2B709-33A5-47C6-9201-D715BD74AC60}" type="presParOf" srcId="{B2A26A25-8EC6-4851-86C8-241D17FB74DD}" destId="{93361883-4148-4364-8751-FF91194AB687}" srcOrd="3" destOrd="0" presId="urn:microsoft.com/office/officeart/2018/2/layout/IconLabelList"/>
    <dgm:cxn modelId="{BB430152-269A-4B99-8DC3-AFD7AA299BE6}" type="presParOf" srcId="{B2A26A25-8EC6-4851-86C8-241D17FB74DD}" destId="{CC606802-0BD2-43D8-BD31-64103D079856}" srcOrd="4" destOrd="0" presId="urn:microsoft.com/office/officeart/2018/2/layout/IconLabelList"/>
    <dgm:cxn modelId="{2F08E656-689E-4528-9F58-F1FA5C7B0F43}" type="presParOf" srcId="{CC606802-0BD2-43D8-BD31-64103D079856}" destId="{777EC6F8-B5FD-42C9-AF7E-B26068B024A9}" srcOrd="0" destOrd="0" presId="urn:microsoft.com/office/officeart/2018/2/layout/IconLabelList"/>
    <dgm:cxn modelId="{C32C2DED-56D1-48D7-82A8-EAD6637DBE4D}" type="presParOf" srcId="{CC606802-0BD2-43D8-BD31-64103D079856}" destId="{BD488285-E9D6-43D7-9103-00238B6AE304}" srcOrd="1" destOrd="0" presId="urn:microsoft.com/office/officeart/2018/2/layout/IconLabelList"/>
    <dgm:cxn modelId="{D92C1A4E-7A9F-4216-96EA-D827F713C419}" type="presParOf" srcId="{CC606802-0BD2-43D8-BD31-64103D079856}" destId="{9B440CCD-E8F4-4BD5-9838-6B89A5AE8731}" srcOrd="2" destOrd="0" presId="urn:microsoft.com/office/officeart/2018/2/layout/IconLabelList"/>
    <dgm:cxn modelId="{FF670C94-1F17-4BE0-97D2-82946B8C049A}" type="presParOf" srcId="{B2A26A25-8EC6-4851-86C8-241D17FB74DD}" destId="{46A97BB7-3263-40EA-857D-D7F4F8DCCC6A}" srcOrd="5" destOrd="0" presId="urn:microsoft.com/office/officeart/2018/2/layout/IconLabelList"/>
    <dgm:cxn modelId="{7BB0F87F-5C70-4BBD-BE90-AC6DF1C759A2}" type="presParOf" srcId="{B2A26A25-8EC6-4851-86C8-241D17FB74DD}" destId="{5A76D007-2A96-4FA5-AD99-F4B25B0F1FA2}" srcOrd="6" destOrd="0" presId="urn:microsoft.com/office/officeart/2018/2/layout/IconLabelList"/>
    <dgm:cxn modelId="{B5EE9755-FA54-47A2-AD23-0DF404C8463D}" type="presParOf" srcId="{5A76D007-2A96-4FA5-AD99-F4B25B0F1FA2}" destId="{10F1E389-BD51-4465-BD4E-A1A30222D108}" srcOrd="0" destOrd="0" presId="urn:microsoft.com/office/officeart/2018/2/layout/IconLabelList"/>
    <dgm:cxn modelId="{C2108C39-2B34-4F0F-B2CE-06035BF54CA2}" type="presParOf" srcId="{5A76D007-2A96-4FA5-AD99-F4B25B0F1FA2}" destId="{616B4F16-CC5C-4BBB-9DF1-5D845F962ECA}" srcOrd="1" destOrd="0" presId="urn:microsoft.com/office/officeart/2018/2/layout/IconLabelList"/>
    <dgm:cxn modelId="{A7047E8E-5839-45A6-AB63-6F28B3E1F5F1}" type="presParOf" srcId="{5A76D007-2A96-4FA5-AD99-F4B25B0F1FA2}" destId="{78B9DD38-018A-40B1-BDD8-C1393A30229D}" srcOrd="2" destOrd="0" presId="urn:microsoft.com/office/officeart/2018/2/layout/IconLabelList"/>
    <dgm:cxn modelId="{BB663A6C-50A1-4EEC-BCF7-5BBC4B893873}" type="presParOf" srcId="{B2A26A25-8EC6-4851-86C8-241D17FB74DD}" destId="{9DA5E321-024E-49A5-8D66-74C3B744345E}" srcOrd="7" destOrd="0" presId="urn:microsoft.com/office/officeart/2018/2/layout/IconLabelList"/>
    <dgm:cxn modelId="{F430DDC5-E7C0-4534-9F74-03D11DFA5396}" type="presParOf" srcId="{B2A26A25-8EC6-4851-86C8-241D17FB74DD}" destId="{31CD72F3-4C67-4757-A98A-D558AF229FC0}" srcOrd="8" destOrd="0" presId="urn:microsoft.com/office/officeart/2018/2/layout/IconLabelList"/>
    <dgm:cxn modelId="{E4035CE1-E536-47C8-B613-1F8ED2D52E2A}" type="presParOf" srcId="{31CD72F3-4C67-4757-A98A-D558AF229FC0}" destId="{D945F86E-A7CB-4AC5-B443-49BE334327A0}" srcOrd="0" destOrd="0" presId="urn:microsoft.com/office/officeart/2018/2/layout/IconLabelList"/>
    <dgm:cxn modelId="{A8480DC4-BD08-4AA8-ADE4-8720C5132E1B}" type="presParOf" srcId="{31CD72F3-4C67-4757-A98A-D558AF229FC0}" destId="{AF29B036-06E3-4235-B20A-B7363AFF57A8}" srcOrd="1" destOrd="0" presId="urn:microsoft.com/office/officeart/2018/2/layout/IconLabelList"/>
    <dgm:cxn modelId="{32DB513E-3587-4ED0-8A7D-D62790D595C5}" type="presParOf" srcId="{31CD72F3-4C67-4757-A98A-D558AF229FC0}" destId="{985FD62D-7A3F-492E-B5B6-35B161A1F7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53A8F-5D8C-4C69-AEBD-13C881106C04}">
      <dsp:nvSpPr>
        <dsp:cNvPr id="0" name=""/>
        <dsp:cNvSpPr/>
      </dsp:nvSpPr>
      <dsp:spPr>
        <a:xfrm>
          <a:off x="0" y="494386"/>
          <a:ext cx="6243639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Improve delivery performance</a:t>
          </a:r>
        </a:p>
      </dsp:txBody>
      <dsp:txXfrm>
        <a:off x="40980" y="535366"/>
        <a:ext cx="6161679" cy="757514"/>
      </dsp:txXfrm>
    </dsp:sp>
    <dsp:sp modelId="{5BF40844-6959-4B3C-BDBA-A4872772A292}">
      <dsp:nvSpPr>
        <dsp:cNvPr id="0" name=""/>
        <dsp:cNvSpPr/>
      </dsp:nvSpPr>
      <dsp:spPr>
        <a:xfrm>
          <a:off x="0" y="1434661"/>
          <a:ext cx="6243639" cy="83947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Optimize inventory</a:t>
          </a:r>
        </a:p>
      </dsp:txBody>
      <dsp:txXfrm>
        <a:off x="40980" y="1475641"/>
        <a:ext cx="6161679" cy="757514"/>
      </dsp:txXfrm>
    </dsp:sp>
    <dsp:sp modelId="{BC8C71FA-A575-4276-980C-6BFFB2B0625F}">
      <dsp:nvSpPr>
        <dsp:cNvPr id="0" name=""/>
        <dsp:cNvSpPr/>
      </dsp:nvSpPr>
      <dsp:spPr>
        <a:xfrm>
          <a:off x="0" y="2374936"/>
          <a:ext cx="6243639" cy="83947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Reduce damaged goods</a:t>
          </a:r>
        </a:p>
      </dsp:txBody>
      <dsp:txXfrm>
        <a:off x="40980" y="2415916"/>
        <a:ext cx="6161679" cy="757514"/>
      </dsp:txXfrm>
    </dsp:sp>
    <dsp:sp modelId="{7297CDD1-3851-4705-82AB-CB848B3B4683}">
      <dsp:nvSpPr>
        <dsp:cNvPr id="0" name=""/>
        <dsp:cNvSpPr/>
      </dsp:nvSpPr>
      <dsp:spPr>
        <a:xfrm>
          <a:off x="0" y="3315211"/>
          <a:ext cx="6243639" cy="83947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Evaluate supplier performance</a:t>
          </a:r>
        </a:p>
      </dsp:txBody>
      <dsp:txXfrm>
        <a:off x="40980" y="3356191"/>
        <a:ext cx="6161679" cy="757514"/>
      </dsp:txXfrm>
    </dsp:sp>
    <dsp:sp modelId="{1668DE65-2742-4CE4-8E09-DD81F04F196D}">
      <dsp:nvSpPr>
        <dsp:cNvPr id="0" name=""/>
        <dsp:cNvSpPr/>
      </dsp:nvSpPr>
      <dsp:spPr>
        <a:xfrm>
          <a:off x="0" y="4255486"/>
          <a:ext cx="6243639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Improve profitability</a:t>
          </a:r>
        </a:p>
      </dsp:txBody>
      <dsp:txXfrm>
        <a:off x="40980" y="4296466"/>
        <a:ext cx="6161679" cy="757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87A12-76A9-4F38-88C2-F5FD7CA0646A}">
      <dsp:nvSpPr>
        <dsp:cNvPr id="0" name=""/>
        <dsp:cNvSpPr/>
      </dsp:nvSpPr>
      <dsp:spPr>
        <a:xfrm>
          <a:off x="0" y="227797"/>
          <a:ext cx="6252094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1. Excel &amp; Power Query cleaning</a:t>
          </a:r>
        </a:p>
      </dsp:txBody>
      <dsp:txXfrm>
        <a:off x="40980" y="268777"/>
        <a:ext cx="6170134" cy="757514"/>
      </dsp:txXfrm>
    </dsp:sp>
    <dsp:sp modelId="{03437B7E-11FD-4EC2-BCF6-0C31A48E2CB3}">
      <dsp:nvSpPr>
        <dsp:cNvPr id="0" name=""/>
        <dsp:cNvSpPr/>
      </dsp:nvSpPr>
      <dsp:spPr>
        <a:xfrm>
          <a:off x="0" y="1168072"/>
          <a:ext cx="6252094" cy="83947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2. Power BI data model</a:t>
          </a:r>
        </a:p>
      </dsp:txBody>
      <dsp:txXfrm>
        <a:off x="40980" y="1209052"/>
        <a:ext cx="6170134" cy="757514"/>
      </dsp:txXfrm>
    </dsp:sp>
    <dsp:sp modelId="{1AE9C4CB-4CE6-47E5-8CEF-73460F0371DB}">
      <dsp:nvSpPr>
        <dsp:cNvPr id="0" name=""/>
        <dsp:cNvSpPr/>
      </dsp:nvSpPr>
      <dsp:spPr>
        <a:xfrm>
          <a:off x="0" y="2108347"/>
          <a:ext cx="6252094" cy="83947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3. DAX measures &amp; KPIs</a:t>
          </a:r>
        </a:p>
      </dsp:txBody>
      <dsp:txXfrm>
        <a:off x="40980" y="2149327"/>
        <a:ext cx="6170134" cy="757514"/>
      </dsp:txXfrm>
    </dsp:sp>
    <dsp:sp modelId="{E1A16E8F-BAF8-4E8D-A8D2-B604B4D764F7}">
      <dsp:nvSpPr>
        <dsp:cNvPr id="0" name=""/>
        <dsp:cNvSpPr/>
      </dsp:nvSpPr>
      <dsp:spPr>
        <a:xfrm>
          <a:off x="0" y="3048622"/>
          <a:ext cx="6252094" cy="83947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4. Interactive dashboards</a:t>
          </a:r>
        </a:p>
      </dsp:txBody>
      <dsp:txXfrm>
        <a:off x="40980" y="3089602"/>
        <a:ext cx="6170134" cy="757514"/>
      </dsp:txXfrm>
    </dsp:sp>
    <dsp:sp modelId="{EB218E4B-BC72-4EED-992E-118499B2DF92}">
      <dsp:nvSpPr>
        <dsp:cNvPr id="0" name=""/>
        <dsp:cNvSpPr/>
      </dsp:nvSpPr>
      <dsp:spPr>
        <a:xfrm>
          <a:off x="0" y="3988897"/>
          <a:ext cx="6252094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5. Business insights</a:t>
          </a:r>
        </a:p>
      </dsp:txBody>
      <dsp:txXfrm>
        <a:off x="40980" y="4029877"/>
        <a:ext cx="6170134" cy="757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50FC3-1061-4448-B7E3-8530303DAD1E}">
      <dsp:nvSpPr>
        <dsp:cNvPr id="0" name=""/>
        <dsp:cNvSpPr/>
      </dsp:nvSpPr>
      <dsp:spPr>
        <a:xfrm>
          <a:off x="0" y="4150553"/>
          <a:ext cx="6362567" cy="1362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KPIs: Revenue, Profit, Margin, AOV, Delivery KPIs.</a:t>
          </a:r>
        </a:p>
      </dsp:txBody>
      <dsp:txXfrm>
        <a:off x="0" y="4150553"/>
        <a:ext cx="6362567" cy="1362304"/>
      </dsp:txXfrm>
    </dsp:sp>
    <dsp:sp modelId="{A4C890FB-D9B1-43C6-AAD4-8A0B0E39EA11}">
      <dsp:nvSpPr>
        <dsp:cNvPr id="0" name=""/>
        <dsp:cNvSpPr/>
      </dsp:nvSpPr>
      <dsp:spPr>
        <a:xfrm rot="10800000">
          <a:off x="0" y="2075763"/>
          <a:ext cx="6362567" cy="209522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Star schema with Fact Sales and Dimension tables.</a:t>
          </a:r>
        </a:p>
      </dsp:txBody>
      <dsp:txXfrm rot="10800000">
        <a:off x="0" y="2075763"/>
        <a:ext cx="6362567" cy="1361413"/>
      </dsp:txXfrm>
    </dsp:sp>
    <dsp:sp modelId="{5225463E-2719-4453-BE75-ED6E707956CD}">
      <dsp:nvSpPr>
        <dsp:cNvPr id="0" name=""/>
        <dsp:cNvSpPr/>
      </dsp:nvSpPr>
      <dsp:spPr>
        <a:xfrm rot="10800000">
          <a:off x="0" y="974"/>
          <a:ext cx="6362567" cy="2095223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Dataset contains Orders, Products, Customers, Suppliers, Locations and Sales.</a:t>
          </a:r>
        </a:p>
      </dsp:txBody>
      <dsp:txXfrm rot="10800000">
        <a:off x="0" y="974"/>
        <a:ext cx="6362567" cy="13614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725032-FCD2-4944-AC27-1B1B18A34C17}">
      <dsp:nvSpPr>
        <dsp:cNvPr id="0" name=""/>
        <dsp:cNvSpPr/>
      </dsp:nvSpPr>
      <dsp:spPr>
        <a:xfrm>
          <a:off x="827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751E9-AEA5-4EB3-9DBA-70A6083D712F}">
      <dsp:nvSpPr>
        <dsp:cNvPr id="0" name=""/>
        <dsp:cNvSpPr/>
      </dsp:nvSpPr>
      <dsp:spPr>
        <a:xfrm>
          <a:off x="332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Improve supplier performance.</a:t>
          </a:r>
        </a:p>
      </dsp:txBody>
      <dsp:txXfrm>
        <a:off x="332491" y="2276522"/>
        <a:ext cx="1800000" cy="720000"/>
      </dsp:txXfrm>
    </dsp:sp>
    <dsp:sp modelId="{855EEA5F-5C04-482A-B365-4E76B5CB10E9}">
      <dsp:nvSpPr>
        <dsp:cNvPr id="0" name=""/>
        <dsp:cNvSpPr/>
      </dsp:nvSpPr>
      <dsp:spPr>
        <a:xfrm>
          <a:off x="2942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7477D-5568-4AF7-985E-AA09CD90B962}">
      <dsp:nvSpPr>
        <dsp:cNvPr id="0" name=""/>
        <dsp:cNvSpPr/>
      </dsp:nvSpPr>
      <dsp:spPr>
        <a:xfrm>
          <a:off x="2447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Optimize logistics and delivery scheduling.</a:t>
          </a:r>
        </a:p>
      </dsp:txBody>
      <dsp:txXfrm>
        <a:off x="2447491" y="2276522"/>
        <a:ext cx="1800000" cy="720000"/>
      </dsp:txXfrm>
    </dsp:sp>
    <dsp:sp modelId="{777EC6F8-B5FD-42C9-AF7E-B26068B024A9}">
      <dsp:nvSpPr>
        <dsp:cNvPr id="0" name=""/>
        <dsp:cNvSpPr/>
      </dsp:nvSpPr>
      <dsp:spPr>
        <a:xfrm>
          <a:off x="5057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40CCD-E8F4-4BD5-9838-6B89A5AE8731}">
      <dsp:nvSpPr>
        <dsp:cNvPr id="0" name=""/>
        <dsp:cNvSpPr/>
      </dsp:nvSpPr>
      <dsp:spPr>
        <a:xfrm>
          <a:off x="4562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Align inventory with demand.</a:t>
          </a:r>
        </a:p>
      </dsp:txBody>
      <dsp:txXfrm>
        <a:off x="4562491" y="2276522"/>
        <a:ext cx="1800000" cy="720000"/>
      </dsp:txXfrm>
    </dsp:sp>
    <dsp:sp modelId="{10F1E389-BD51-4465-BD4E-A1A30222D108}">
      <dsp:nvSpPr>
        <dsp:cNvPr id="0" name=""/>
        <dsp:cNvSpPr/>
      </dsp:nvSpPr>
      <dsp:spPr>
        <a:xfrm>
          <a:off x="7172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9DD38-018A-40B1-BDD8-C1393A30229D}">
      <dsp:nvSpPr>
        <dsp:cNvPr id="0" name=""/>
        <dsp:cNvSpPr/>
      </dsp:nvSpPr>
      <dsp:spPr>
        <a:xfrm>
          <a:off x="6677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Improve packaging for high-damage products.</a:t>
          </a:r>
        </a:p>
      </dsp:txBody>
      <dsp:txXfrm>
        <a:off x="6677491" y="2276522"/>
        <a:ext cx="1800000" cy="720000"/>
      </dsp:txXfrm>
    </dsp:sp>
    <dsp:sp modelId="{D945F86E-A7CB-4AC5-B443-49BE334327A0}">
      <dsp:nvSpPr>
        <dsp:cNvPr id="0" name=""/>
        <dsp:cNvSpPr/>
      </dsp:nvSpPr>
      <dsp:spPr>
        <a:xfrm>
          <a:off x="9287491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FD62D-7A3F-492E-B5B6-35B161A1F716}">
      <dsp:nvSpPr>
        <dsp:cNvPr id="0" name=""/>
        <dsp:cNvSpPr/>
      </dsp:nvSpPr>
      <dsp:spPr>
        <a:xfrm>
          <a:off x="8792491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Invest in high-margin product categories.</a:t>
          </a:r>
        </a:p>
      </dsp:txBody>
      <dsp:txXfrm>
        <a:off x="8792491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20227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04" y="350196"/>
            <a:ext cx="464569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000"/>
              <a:t>GlobalMart Supply Chain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03" y="2743200"/>
            <a:ext cx="464569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Executive Dashboard Presentation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Prepared by: </a:t>
            </a:r>
            <a:r>
              <a:rPr lang="en-US" sz="2000" b="1" dirty="0"/>
              <a:t>Fathiu Ligali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Tools used: Power Query &amp; Power BI</a:t>
            </a:r>
          </a:p>
        </p:txBody>
      </p:sp>
      <p:pic>
        <p:nvPicPr>
          <p:cNvPr id="23" name="Picture 22" descr="Financial graphs on a dark display">
            <a:extLst>
              <a:ext uri="{FF2B5EF4-FFF2-40B4-BE49-F238E27FC236}">
                <a16:creationId xmlns:a16="http://schemas.microsoft.com/office/drawing/2014/main" id="{E327A841-665E-5AB3-98F1-4C526B369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94" r="25103"/>
          <a:stretch>
            <a:fillRect/>
          </a:stretch>
        </p:blipFill>
        <p:spPr>
          <a:xfrm>
            <a:off x="6094412" y="1"/>
            <a:ext cx="61012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269" y="1070800"/>
            <a:ext cx="3938662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defRPr sz="2600"/>
            </a:pPr>
            <a:r>
              <a:rPr lang="en-US" sz="7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Problem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6821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96C1ACB-B32D-67EB-F1C0-339641F715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222499"/>
              </p:ext>
            </p:extLst>
          </p:nvPr>
        </p:nvGraphicFramePr>
        <p:xfrm>
          <a:off x="5107204" y="1070800"/>
          <a:ext cx="624363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0"/>
            <a:ext cx="12185778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278" y="774970"/>
            <a:ext cx="304800" cy="429656"/>
            <a:chOff x="215328" y="-46937"/>
            <a:chExt cx="304800" cy="2773841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12045592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5064" y="1042698"/>
            <a:ext cx="2796461" cy="71106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6606" y="317578"/>
            <a:ext cx="548497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6094408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5030" y="5940559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495992"/>
            <a:ext cx="4194048" cy="563883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 (Excel → Power BI → Insights)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A15DE0E-841B-BBF2-D140-17C153A30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0418679"/>
              </p:ext>
            </p:extLst>
          </p:nvPr>
        </p:nvGraphicFramePr>
        <p:xfrm>
          <a:off x="4914666" y="866585"/>
          <a:ext cx="6252094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7633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3" name="Freeform: Shape 6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0225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630" y="1161288"/>
            <a:ext cx="3601797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Overview &amp; Structure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2A4020D-5443-E9DC-BA38-F83A4FA667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429971"/>
              </p:ext>
            </p:extLst>
          </p:nvPr>
        </p:nvGraphicFramePr>
        <p:xfrm>
          <a:off x="5302138" y="676656"/>
          <a:ext cx="6362567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468" y="633619"/>
            <a:ext cx="4278268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7" y="978619"/>
            <a:ext cx="340982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Delivery Performance Insights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477" y="1171300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230" y="2093976"/>
            <a:ext cx="3327549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028" y="2252870"/>
            <a:ext cx="3411331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On-Time Delivery Rate: 34.66%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Late Delivery Rate: 65.14%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Average Shipping Time: 10 Days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Standard shipping achieved highest on-time performance.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Indoafrica Imports, Sahelgoods SA and Megasupply Inc recorded the highest late delivery rates.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2F6D0-DE46-EF2D-0114-A72B2DC86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727" y="209630"/>
            <a:ext cx="7247233" cy="6032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468" y="633619"/>
            <a:ext cx="4278268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7" y="978619"/>
            <a:ext cx="340982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Profitability Analysis Insights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477" y="1171300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230" y="2093976"/>
            <a:ext cx="3327549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028" y="2252870"/>
            <a:ext cx="3411331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Revenue ≈ $684M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Profit ≈ $190.5M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Profit Margin: 27.83%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Health &amp; Beauty generated highest revenue and profit.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Sunsource Ltd is the top profit-contributing supplier.</a:t>
            </a:r>
          </a:p>
        </p:txBody>
      </p:sp>
      <p:pic>
        <p:nvPicPr>
          <p:cNvPr id="4" name="Picture 3" descr="Screenshot 2026-07-23 230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946" y="978618"/>
            <a:ext cx="7038700" cy="41013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468" y="633619"/>
            <a:ext cx="4278268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7" y="978619"/>
            <a:ext cx="340982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Inventory Optimization Insights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477" y="1171300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230" y="2093976"/>
            <a:ext cx="3327549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028" y="2252870"/>
            <a:ext cx="3411331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Stock levels exceed demand across categories.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Health &amp; Beauty holds the highest stock.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Highest damage rates: Health &amp; Beauty (2.68%), Electronics (2.60%), Home Appliances (2.57%).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A98AB-9DC9-FEC5-D754-8D90F2DF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727" y="633619"/>
            <a:ext cx="6928576" cy="52209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468" y="633619"/>
            <a:ext cx="4278268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7" y="978619"/>
            <a:ext cx="340982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Trends &amp; Patterns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477" y="1171300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230" y="2093976"/>
            <a:ext cx="3327549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028" y="2252870"/>
            <a:ext cx="3411331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Revenue peaks around July and November.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East Africa contributes the highest regional revenue (~22%).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Delivery performance weakens around September.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• Profitability remains consistent across categories.</a:t>
            </a:r>
          </a:p>
        </p:txBody>
      </p:sp>
      <p:pic>
        <p:nvPicPr>
          <p:cNvPr id="4" name="Picture 3" descr="Screenshot 2026-07-23 230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586" y="1171300"/>
            <a:ext cx="6998818" cy="4254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Strategic Recommendations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FCFB2A2-9C91-7FA7-32CE-E2D62D1DA8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5715367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344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1637" y="762001"/>
            <a:ext cx="4155429" cy="1708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600"/>
            </a:pPr>
            <a:r>
              <a:rPr lang="en-US" sz="4000"/>
              <a:t>Conclusion &amp; Next Steps</a:t>
            </a:r>
          </a:p>
        </p:txBody>
      </p:sp>
      <p:pic>
        <p:nvPicPr>
          <p:cNvPr id="23" name="Picture 22" descr="Desk with productivity items">
            <a:extLst>
              <a:ext uri="{FF2B5EF4-FFF2-40B4-BE49-F238E27FC236}">
                <a16:creationId xmlns:a16="http://schemas.microsoft.com/office/drawing/2014/main" id="{355D7E84-DE6A-9617-C683-36D63AC8C8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66" r="12716" b="-2"/>
          <a:stretch>
            <a:fillRect/>
          </a:stretch>
        </p:blipFill>
        <p:spPr>
          <a:xfrm>
            <a:off x="20" y="-2"/>
            <a:ext cx="6094392" cy="68580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01637" y="2470245"/>
            <a:ext cx="4155429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 err="1"/>
              <a:t>GlobalMart</a:t>
            </a:r>
            <a:r>
              <a:rPr lang="en-US" sz="2000" dirty="0"/>
              <a:t> demonstrates strong financial performance but operational improvements are needed.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endParaRPr lang="en-US" sz="20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r>
              <a:rPr lang="en-US" sz="2000" b="1" dirty="0"/>
              <a:t>Next Steps: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• Continuous KPI monitoring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• Better forecasting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• Supplier scorecards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• Real-time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345</Words>
  <Application>Microsoft Office PowerPoint</Application>
  <PresentationFormat>Custom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GlobalMart Supply Chain Analytics</vt:lpstr>
      <vt:lpstr>Business Problem Overview</vt:lpstr>
      <vt:lpstr>Methodology (Excel → Power BI → Insights)</vt:lpstr>
      <vt:lpstr>Data Overview &amp; Structure</vt:lpstr>
      <vt:lpstr>Delivery Performance Insights</vt:lpstr>
      <vt:lpstr>Profitability Analysis Insights</vt:lpstr>
      <vt:lpstr>Inventory Optimization Insights</vt:lpstr>
      <vt:lpstr>Business Trends &amp; Patterns</vt:lpstr>
      <vt:lpstr>Strategic 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Fathiu Ligali</cp:lastModifiedBy>
  <cp:revision>5</cp:revision>
  <dcterms:created xsi:type="dcterms:W3CDTF">2013-01-27T09:14:16Z</dcterms:created>
  <dcterms:modified xsi:type="dcterms:W3CDTF">2026-07-24T00:07:25Z</dcterms:modified>
  <cp:category/>
</cp:coreProperties>
</file>